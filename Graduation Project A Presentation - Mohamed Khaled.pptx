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71" r:id="rId14"/>
    <p:sldId id="272" r:id="rId15"/>
    <p:sldId id="273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0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87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91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3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4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66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08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9158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7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7290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98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25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903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162000"/>
                <a:satMod val="200000"/>
                <a:lumMod val="124000"/>
              </a:schemeClr>
            </a:gs>
            <a:gs pos="100000">
              <a:schemeClr val="bg1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502E16-A78C-4A80-AD10-3646FBB87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9143999" cy="6858000"/>
          </a:xfrm>
          <a:prstGeom prst="rect">
            <a:avLst/>
          </a:prstGeom>
          <a:gradFill>
            <a:gsLst>
              <a:gs pos="10000">
                <a:schemeClr val="bg1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1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d Triangles">
            <a:extLst>
              <a:ext uri="{FF2B5EF4-FFF2-40B4-BE49-F238E27FC236}">
                <a16:creationId xmlns:a16="http://schemas.microsoft.com/office/drawing/2014/main" id="{FA3BF606-A038-061D-7748-6AA1652559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4174" r="415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685799"/>
            <a:ext cx="6000750" cy="2971801"/>
          </a:xfrm>
        </p:spPr>
        <p:txBody>
          <a:bodyPr>
            <a:normAutofit/>
          </a:bodyPr>
          <a:lstStyle/>
          <a:p>
            <a:r>
              <a:rPr dirty="0"/>
              <a:t>AI-Based Brain Tumor Classification from MRI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3843867"/>
            <a:ext cx="4800600" cy="1947333"/>
          </a:xfrm>
        </p:spPr>
        <p:txBody>
          <a:bodyPr>
            <a:normAutofit/>
          </a:bodyPr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Mohamed Khaled</a:t>
            </a:r>
          </a:p>
          <a:p>
            <a:r>
              <a:rPr lang="en-US" dirty="0">
                <a:solidFill>
                  <a:schemeClr val="tx1"/>
                </a:solidFill>
              </a:rPr>
              <a:t>TM471 – Final Year Project</a:t>
            </a:r>
          </a:p>
          <a:p>
            <a:r>
              <a:rPr lang="en-US" dirty="0">
                <a:solidFill>
                  <a:schemeClr val="tx1"/>
                </a:solidFill>
              </a:rPr>
              <a:t>Supervisor: </a:t>
            </a:r>
            <a:r>
              <a:rPr lang="en-US" b="1" dirty="0">
                <a:solidFill>
                  <a:schemeClr val="tx1"/>
                </a:solidFill>
              </a:rPr>
              <a:t>Dr. Amira Abdelfatah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0356AB-9A93-4182-A651-EA8B6FBEC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81127" y="9144"/>
            <a:ext cx="4560492" cy="6163733"/>
            <a:chOff x="6108170" y="8467"/>
            <a:chExt cx="6080656" cy="616373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5E6DE5-AFDF-4DB1-8A57-2F7E983150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C6613A-BBD4-4437-9C57-48C63BFEB1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294476-0F69-46CD-8D18-EB2D5EBAA4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03AC8C6-3EED-40C0-88BC-9D4BF88CA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65E0775-E822-48E1-AE9A-D1454543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Manual MRI interpretation is time-consuming and demanding.</a:t>
            </a:r>
          </a:p>
          <a:p>
            <a:pPr lvl="1"/>
            <a:r>
              <a:rPr dirty="0"/>
              <a:t>Public academic datasets are limited to 2D slices with no segmentation masks.</a:t>
            </a:r>
          </a:p>
          <a:p>
            <a:pPr lvl="1"/>
            <a:r>
              <a:rPr dirty="0"/>
              <a:t>Many AI models act as black boxes with limited interpretability.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Suggested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 a lightweight CNN-based classification system for 2D MRI slices.</a:t>
            </a:r>
          </a:p>
          <a:p>
            <a:pPr lvl="1"/>
            <a:r>
              <a:rPr dirty="0"/>
              <a:t>Classify images into four classes: Glioma, Meningioma, Pituitary, No Tumor.</a:t>
            </a:r>
          </a:p>
          <a:p>
            <a:pPr lvl="1"/>
            <a:r>
              <a:rPr dirty="0"/>
              <a:t>Integrate Grad-CAM for built-in visual explainability.</a:t>
            </a:r>
          </a:p>
          <a:p>
            <a:pPr lvl="1"/>
            <a:r>
              <a:rPr dirty="0"/>
              <a:t>Focus on feasibility, transparency, and reproducibility rather than clinical deployment.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Prepare and preprocess public 2D MRI datasets.</a:t>
            </a:r>
          </a:p>
          <a:p>
            <a:pPr lvl="1"/>
            <a:r>
              <a:rPr dirty="0"/>
              <a:t>Design and evaluate a custom CNN architecture.</a:t>
            </a:r>
          </a:p>
          <a:p>
            <a:pPr lvl="1"/>
            <a:r>
              <a:rPr dirty="0"/>
              <a:t>Apply MobileNetV2 as a lightweight transfer learning benchmark.</a:t>
            </a:r>
          </a:p>
          <a:p>
            <a:pPr lvl="1"/>
            <a:r>
              <a:rPr dirty="0"/>
              <a:t>Integrate Grad-CAM to visualize model decision regions.</a:t>
            </a:r>
          </a:p>
          <a:p>
            <a:pPr lvl="1"/>
            <a:r>
              <a:rPr dirty="0"/>
              <a:t>Evaluate performance using standard classification metrics.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MRI is the primary modality for brain tumor diagnosis.</a:t>
            </a:r>
          </a:p>
          <a:p>
            <a:pPr lvl="1"/>
            <a:r>
              <a:rPr dirty="0"/>
              <a:t>Deep learning has shown strong performance in medical image classification.</a:t>
            </a:r>
          </a:p>
          <a:p>
            <a:pPr lvl="1"/>
            <a:r>
              <a:rPr dirty="0"/>
              <a:t>Most academic datasets limit research to image-level classification.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– Classification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CNN-based models dominate MRI tumor classification research.</a:t>
            </a:r>
          </a:p>
          <a:p>
            <a:pPr lvl="1"/>
            <a:r>
              <a:t>Lightweight architectures achieve competitive accuracy.</a:t>
            </a:r>
          </a:p>
          <a:p>
            <a:pPr lvl="1"/>
            <a:r>
              <a:t>Transfer learning mitigates limited dataset size.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–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Medical AI systems require interpretability to build trust.</a:t>
            </a:r>
          </a:p>
          <a:p>
            <a:pPr lvl="1"/>
            <a:r>
              <a:t>Grad-CAM is widely used for CNN-based visual explanations.</a:t>
            </a:r>
          </a:p>
          <a:p>
            <a:pPr lvl="1"/>
            <a:r>
              <a:t>Many studies treat explainability as post-hoc rather than integral.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5CB94-9D80-EA34-2132-14D79E7E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76" y="-91440"/>
            <a:ext cx="7165848" cy="1524000"/>
          </a:xfrm>
        </p:spPr>
        <p:txBody>
          <a:bodyPr/>
          <a:lstStyle/>
          <a:p>
            <a:r>
              <a:rPr lang="en-US" dirty="0"/>
              <a:t>Related Works - 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45821E-DD78-5E7D-F5D6-691CD91BF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073258"/>
              </p:ext>
            </p:extLst>
          </p:nvPr>
        </p:nvGraphicFramePr>
        <p:xfrm>
          <a:off x="1302406" y="1239996"/>
          <a:ext cx="6539188" cy="5307106"/>
        </p:xfrm>
        <a:graphic>
          <a:graphicData uri="http://schemas.openxmlformats.org/drawingml/2006/table">
            <a:tbl>
              <a:tblPr firstRow="1" firstCol="1" bandRow="1">
                <a:tableStyleId>{284E427A-3D55-4303-BF80-6455036E1DE7}</a:tableStyleId>
              </a:tblPr>
              <a:tblGrid>
                <a:gridCol w="1167899">
                  <a:extLst>
                    <a:ext uri="{9D8B030D-6E8A-4147-A177-3AD203B41FA5}">
                      <a16:colId xmlns:a16="http://schemas.microsoft.com/office/drawing/2014/main" val="2487843772"/>
                    </a:ext>
                  </a:extLst>
                </a:gridCol>
                <a:gridCol w="1221520">
                  <a:extLst>
                    <a:ext uri="{9D8B030D-6E8A-4147-A177-3AD203B41FA5}">
                      <a16:colId xmlns:a16="http://schemas.microsoft.com/office/drawing/2014/main" val="669017431"/>
                    </a:ext>
                  </a:extLst>
                </a:gridCol>
                <a:gridCol w="639532">
                  <a:extLst>
                    <a:ext uri="{9D8B030D-6E8A-4147-A177-3AD203B41FA5}">
                      <a16:colId xmlns:a16="http://schemas.microsoft.com/office/drawing/2014/main" val="1705645785"/>
                    </a:ext>
                  </a:extLst>
                </a:gridCol>
                <a:gridCol w="1140435">
                  <a:extLst>
                    <a:ext uri="{9D8B030D-6E8A-4147-A177-3AD203B41FA5}">
                      <a16:colId xmlns:a16="http://schemas.microsoft.com/office/drawing/2014/main" val="3980199892"/>
                    </a:ext>
                  </a:extLst>
                </a:gridCol>
                <a:gridCol w="1212366">
                  <a:extLst>
                    <a:ext uri="{9D8B030D-6E8A-4147-A177-3AD203B41FA5}">
                      <a16:colId xmlns:a16="http://schemas.microsoft.com/office/drawing/2014/main" val="874450792"/>
                    </a:ext>
                  </a:extLst>
                </a:gridCol>
                <a:gridCol w="1157436">
                  <a:extLst>
                    <a:ext uri="{9D8B030D-6E8A-4147-A177-3AD203B41FA5}">
                      <a16:colId xmlns:a16="http://schemas.microsoft.com/office/drawing/2014/main" val="4033210151"/>
                    </a:ext>
                  </a:extLst>
                </a:gridCol>
              </a:tblGrid>
              <a:tr h="32522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Work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Task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Data Type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Model Strategy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Explainability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Key Insight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3042536914"/>
                  </a:ext>
                </a:extLst>
              </a:tr>
              <a:tr h="66522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Haque et al. (2024)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Classification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2D MRI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VGG19-based CNN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LIME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High accuracy achievable with slice-based data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3254928977"/>
                  </a:ext>
                </a:extLst>
              </a:tr>
              <a:tr h="66522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Reyes &amp; Sánchez (2024)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Classification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2D MRI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CNN + transfer learning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None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Lightweight models rival deep architectures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692115541"/>
                  </a:ext>
                </a:extLst>
              </a:tr>
              <a:tr h="66522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Almusharraf et al. (2024)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Classification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2D MRI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Custom CNN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Grad-CAM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Explainability improves trust under constraints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3807421179"/>
                  </a:ext>
                </a:extLst>
              </a:tr>
              <a:tr h="4952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Vimala et al. (2023)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Classification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2D MRI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EfficientNet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Grad-CAM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Efficiency and performance can coexist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2863856271"/>
                  </a:ext>
                </a:extLst>
              </a:tr>
              <a:tr h="66522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Rasa et al. (2024)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Classification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2D MRI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MobileNetV2 et al.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None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MobileNetV2 balances accuracy and efficiency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3898978540"/>
                  </a:ext>
                </a:extLst>
              </a:tr>
              <a:tr h="4952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Nazir et al. (2024)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Classification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2D MRI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Custom CNN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Grad-CAM, SHAP, LIME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Transparency is critical even for simple tasks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3752071672"/>
                  </a:ext>
                </a:extLst>
              </a:tr>
              <a:tr h="66522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Segmentation Studies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Segmentation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3D MRI + masks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U-Net variants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Limited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Data assumptions unsuitable for public datasets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3195731944"/>
                  </a:ext>
                </a:extLst>
              </a:tr>
              <a:tr h="66522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Present Project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Classification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2D MRI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Custom CNN + MobileNetV2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effectLst/>
                        </a:rPr>
                        <a:t>Grad-CAM (integrated)</a:t>
                      </a:r>
                      <a:endParaRPr lang="en-US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effectLst/>
                        </a:rPr>
                        <a:t>Constraint-aware, explainable, reproducible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54128" marR="54128" marT="0" marB="0" anchor="ctr"/>
                </a:tc>
                <a:extLst>
                  <a:ext uri="{0D108BD9-81ED-4DB2-BD59-A6C34878D82A}">
                    <a16:rowId xmlns:a16="http://schemas.microsoft.com/office/drawing/2014/main" val="2241360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49940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Public 2D brain MRI slices.</a:t>
            </a:r>
          </a:p>
          <a:p>
            <a:pPr lvl="1"/>
            <a:r>
              <a:t>Preprocessing: Resizing, normalization, grayscale handling.</a:t>
            </a:r>
          </a:p>
          <a:p>
            <a:pPr lvl="1"/>
            <a:r>
              <a:t>Models: Custom CNN and MobileNetV2.</a:t>
            </a:r>
          </a:p>
          <a:p>
            <a:pPr lvl="1"/>
            <a:r>
              <a:t>Explainability: Grad-CAM heatmap generation.</a:t>
            </a:r>
          </a:p>
          <a:p>
            <a:pPr lvl="1"/>
            <a:r>
              <a:t>Evaluation: Accuracy, precision, recall, F1-score.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7997952" cy="4386072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US" dirty="0"/>
              <a:t>Accept individual 2D brain MRI images in standard formats (e.g., PNG, JPEG).</a:t>
            </a:r>
          </a:p>
          <a:p>
            <a:pPr lvl="0"/>
            <a:r>
              <a:rPr lang="en-US" dirty="0"/>
              <a:t>Preprocess input images using resizing, normalization, and grayscale handling where applicable.</a:t>
            </a:r>
          </a:p>
          <a:p>
            <a:pPr lvl="0"/>
            <a:r>
              <a:rPr lang="en-US" dirty="0"/>
              <a:t>Classify each MRI image into one of four categories: glioma, meningioma, pituitary tumor, or no tumor.</a:t>
            </a:r>
          </a:p>
          <a:p>
            <a:pPr lvl="0"/>
            <a:r>
              <a:rPr lang="en-US" dirty="0"/>
              <a:t>Support classification using two models: a custom CNN and a MobileNetV2-based transfer learning model.</a:t>
            </a:r>
          </a:p>
          <a:p>
            <a:pPr lvl="0"/>
            <a:r>
              <a:rPr lang="en-US" dirty="0"/>
              <a:t>Generate class-specific visual explanations using Grad-CAM.</a:t>
            </a:r>
          </a:p>
          <a:p>
            <a:pPr lvl="0"/>
            <a:r>
              <a:rPr lang="en-US" dirty="0"/>
              <a:t>Produce combined image–heatmap overlays for interpretability.</a:t>
            </a:r>
          </a:p>
          <a:p>
            <a:pPr lvl="0"/>
            <a:r>
              <a:rPr lang="en-US" dirty="0"/>
              <a:t>Display prediction results, including class label and confidence score.</a:t>
            </a:r>
          </a:p>
          <a:p>
            <a:pPr lvl="0"/>
            <a:r>
              <a:rPr lang="en-US" dirty="0"/>
              <a:t>Compute evaluation metrics including accuracy, precision, recall, F1-score, and confusion matrices.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8446008" cy="4239768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Interpretability:</a:t>
            </a:r>
            <a:br>
              <a:rPr lang="en-US" dirty="0"/>
            </a:br>
            <a:r>
              <a:rPr lang="en-US" dirty="0"/>
              <a:t>The system shall provide explainable outputs using integrated Grad-CAM visualization.</a:t>
            </a:r>
          </a:p>
          <a:p>
            <a:pPr lvl="0"/>
            <a:r>
              <a:rPr lang="en-US" dirty="0"/>
              <a:t>Efficiency:</a:t>
            </a:r>
            <a:br>
              <a:rPr lang="en-US" dirty="0"/>
            </a:br>
            <a:r>
              <a:rPr lang="en-US" dirty="0"/>
              <a:t>The system shall operate within computational limits suitable for academic hardware.</a:t>
            </a:r>
          </a:p>
          <a:p>
            <a:pPr lvl="0"/>
            <a:r>
              <a:rPr lang="en-US" dirty="0"/>
              <a:t>Reliability:</a:t>
            </a:r>
            <a:br>
              <a:rPr lang="en-US" dirty="0"/>
            </a:br>
            <a:r>
              <a:rPr lang="en-US" dirty="0"/>
              <a:t>The system shall produce consistent results for identical inputs and configurations.</a:t>
            </a:r>
          </a:p>
          <a:p>
            <a:pPr lvl="0"/>
            <a:r>
              <a:rPr lang="en-US" dirty="0"/>
              <a:t>Reproducibility:</a:t>
            </a:r>
            <a:br>
              <a:rPr lang="en-US" dirty="0"/>
            </a:br>
            <a:r>
              <a:rPr lang="en-US" dirty="0"/>
              <a:t>Fixed dataset splits, preprocessing steps, and training settings shall be used.</a:t>
            </a:r>
          </a:p>
          <a:p>
            <a:pPr lvl="0"/>
            <a:r>
              <a:rPr lang="en-US" dirty="0"/>
              <a:t>Maintainability:</a:t>
            </a:r>
            <a:br>
              <a:rPr lang="en-US" dirty="0"/>
            </a:br>
            <a:r>
              <a:rPr lang="en-US" dirty="0"/>
              <a:t>The system shall follow a modular design separating preprocessing, modeling, explainability, and evaluation.</a:t>
            </a:r>
          </a:p>
          <a:p>
            <a:pPr lvl="0"/>
            <a:r>
              <a:rPr lang="en-US" dirty="0"/>
              <a:t>Ethical Compliance:</a:t>
            </a:r>
            <a:br>
              <a:rPr lang="en-US" dirty="0"/>
            </a:br>
            <a:r>
              <a:rPr lang="en-US" dirty="0"/>
              <a:t>The system shall operate only on de-identified, publicly available data.</a:t>
            </a:r>
          </a:p>
          <a:p>
            <a:pPr lvl="0"/>
            <a:r>
              <a:rPr lang="en-US" dirty="0"/>
              <a:t>Portability:</a:t>
            </a:r>
            <a:br>
              <a:rPr lang="en-US" dirty="0"/>
            </a:br>
            <a:r>
              <a:rPr lang="en-US" dirty="0"/>
              <a:t>The design shall support deployment within lightweight desktop or mobile interfaces.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– USE CASE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6036B-6F4C-E074-5DF8-906E73A4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49512" y="228600"/>
            <a:ext cx="4244975" cy="4654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8C8B7-4EB6-1A43-76E1-65F8955E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B06E-59CF-E870-5D3D-B8B1186D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– Activity flow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8029D-23CC-1591-3EB8-D7DFA4425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06" y="1423225"/>
            <a:ext cx="8857188" cy="31399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575319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97998-3CF5-3195-FB8A-93B04BAA7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906AB-97AA-EC28-EE68-D97BED59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– sequence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F37F76-6529-6F36-7C96-FE579EDE7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24" y="171132"/>
            <a:ext cx="6327648" cy="4667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524252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18967-564E-C565-3EBF-3B960AEC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4A2F-235A-3BD5-8B8C-1549D9B7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 – class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D99B3-CFEB-1509-E2A4-D1BEFA91E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74533" y="185737"/>
            <a:ext cx="6394934" cy="47428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595867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Plan</a:t>
            </a:r>
            <a:r>
              <a:rPr lang="en-US" dirty="0"/>
              <a:t> – Gantt chart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DDBE74-53CE-F342-5831-C8CCC4C5D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9" y="931366"/>
            <a:ext cx="8343562" cy="2424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7257288" cy="1524000"/>
          </a:xfrm>
        </p:spPr>
        <p:txBody>
          <a:bodyPr/>
          <a:lstStyle/>
          <a:p>
            <a:r>
              <a:rPr dirty="0"/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Demonstrated feasible and explainable MRI classification using 2D slices.</a:t>
            </a:r>
          </a:p>
          <a:p>
            <a:pPr lvl="1"/>
            <a:r>
              <a:rPr dirty="0"/>
              <a:t>Compared efficiency and performance of two CNN approaches.</a:t>
            </a:r>
          </a:p>
          <a:p>
            <a:pPr lvl="1"/>
            <a:r>
              <a:rPr dirty="0"/>
              <a:t>Future work includes richer datasets, segmentation, and 3D MRI analysis.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65176"/>
            <a:ext cx="8610600" cy="466344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Almusharraf, A.I. </a:t>
            </a:r>
            <a:r>
              <a:rPr lang="en-US" i="1" dirty="0"/>
              <a:t>et al.</a:t>
            </a:r>
            <a:r>
              <a:rPr lang="en-US" dirty="0"/>
              <a:t> (2024) ‘Refining neural network algorithms for accurate brain tumor classification in MRI imagery’, </a:t>
            </a:r>
            <a:r>
              <a:rPr lang="en-US" i="1" dirty="0"/>
              <a:t>BMC Medical Imaging</a:t>
            </a:r>
            <a:r>
              <a:rPr lang="en-US" dirty="0"/>
              <a:t>, 24, pp. 1–15.</a:t>
            </a:r>
          </a:p>
          <a:p>
            <a:r>
              <a:rPr lang="en-US" dirty="0"/>
              <a:t>Haque, R. </a:t>
            </a:r>
            <a:r>
              <a:rPr lang="en-US" i="1" dirty="0"/>
              <a:t>et al.</a:t>
            </a:r>
            <a:r>
              <a:rPr lang="en-US" dirty="0"/>
              <a:t> (2024) ‘NeuroNet19: an explainable deep neural network for brain tumor classification using MRI’, </a:t>
            </a:r>
            <a:r>
              <a:rPr lang="en-US" i="1" dirty="0"/>
              <a:t>Scientific Reports</a:t>
            </a:r>
            <a:r>
              <a:rPr lang="en-US" dirty="0"/>
              <a:t>, 14, pp. 1–17.</a:t>
            </a:r>
          </a:p>
          <a:p>
            <a:r>
              <a:rPr lang="en-US" dirty="0"/>
              <a:t>Howard, A.G. </a:t>
            </a:r>
            <a:r>
              <a:rPr lang="en-US" i="1" dirty="0"/>
              <a:t>et al.</a:t>
            </a:r>
            <a:r>
              <a:rPr lang="en-US" dirty="0"/>
              <a:t> (2018) ‘MobileNetV2: inverted residuals and linear bottlenecks’, </a:t>
            </a:r>
            <a:r>
              <a:rPr lang="en-US" i="1" dirty="0"/>
              <a:t>Proc. CVPR</a:t>
            </a:r>
            <a:r>
              <a:rPr lang="en-US" dirty="0"/>
              <a:t>, pp. 4510–4520.</a:t>
            </a:r>
          </a:p>
          <a:p>
            <a:r>
              <a:rPr lang="en-US" dirty="0"/>
              <a:t>Kaggle (2025) </a:t>
            </a:r>
            <a:r>
              <a:rPr lang="en-US" i="1" dirty="0"/>
              <a:t>BRISC2025: Brain MRI for Brain Tumor Classification</a:t>
            </a:r>
            <a:r>
              <a:rPr lang="en-US" dirty="0"/>
              <a:t>. Available at: kaggle.com (Accessed: 10 March 2025).</a:t>
            </a:r>
          </a:p>
          <a:p>
            <a:r>
              <a:rPr lang="en-US" dirty="0"/>
              <a:t>Nazir, M.I. </a:t>
            </a:r>
            <a:r>
              <a:rPr lang="en-US" i="1" dirty="0"/>
              <a:t>et al.</a:t>
            </a:r>
            <a:r>
              <a:rPr lang="en-US" dirty="0"/>
              <a:t> (2024) ‘Customized CNN for brain tumor prediction with explainable AI’, </a:t>
            </a:r>
            <a:r>
              <a:rPr lang="en-US" i="1" dirty="0"/>
              <a:t>Heliyon</a:t>
            </a:r>
            <a:r>
              <a:rPr lang="en-US" dirty="0"/>
              <a:t>, 10, pp. 1–15.</a:t>
            </a:r>
          </a:p>
          <a:p>
            <a:r>
              <a:rPr lang="en-US" dirty="0"/>
              <a:t>Reyes, D. and Sánchez, J. (2024) ‘CNN performance for brain tumor classification using MRI’, </a:t>
            </a:r>
            <a:r>
              <a:rPr lang="en-US" i="1" dirty="0"/>
              <a:t>Heliyon</a:t>
            </a:r>
            <a:r>
              <a:rPr lang="en-US" dirty="0"/>
              <a:t>, 10, pp. 1–14.</a:t>
            </a:r>
          </a:p>
          <a:p>
            <a:r>
              <a:rPr lang="en-US" dirty="0"/>
              <a:t>Rasa, S.M. </a:t>
            </a:r>
            <a:r>
              <a:rPr lang="en-US" i="1" dirty="0"/>
              <a:t>et al.</a:t>
            </a:r>
            <a:r>
              <a:rPr lang="en-US" dirty="0"/>
              <a:t> (2024) ‘Brain tumor classification using fine-tuned transfer learning models’, </a:t>
            </a:r>
            <a:r>
              <a:rPr lang="en-US" i="1" dirty="0"/>
              <a:t>Digital Health</a:t>
            </a:r>
            <a:r>
              <a:rPr lang="en-US" dirty="0"/>
              <a:t>, 10, pp. 1–14.</a:t>
            </a:r>
          </a:p>
          <a:p>
            <a:r>
              <a:rPr lang="en-US" dirty="0"/>
              <a:t>Selvaraju, R.R. </a:t>
            </a:r>
            <a:r>
              <a:rPr lang="en-US" i="1" dirty="0"/>
              <a:t>et al.</a:t>
            </a:r>
            <a:r>
              <a:rPr lang="en-US" dirty="0"/>
              <a:t> (2017) ‘Grad-CAM: visual explanations from deep networks’, </a:t>
            </a:r>
            <a:r>
              <a:rPr lang="en-US" i="1" dirty="0"/>
              <a:t>Proc. ICCV</a:t>
            </a:r>
            <a:r>
              <a:rPr lang="en-US" dirty="0"/>
              <a:t>, pp. 618–626.</a:t>
            </a:r>
          </a:p>
          <a:p>
            <a:r>
              <a:rPr lang="en-US" dirty="0"/>
              <a:t>Vimala, B.B. </a:t>
            </a:r>
            <a:r>
              <a:rPr lang="en-US" i="1" dirty="0"/>
              <a:t>et al.</a:t>
            </a:r>
            <a:r>
              <a:rPr lang="en-US" dirty="0"/>
              <a:t> (2023) ‘Detection and classification of brain tumor using hybrid deep learning models’, </a:t>
            </a:r>
            <a:r>
              <a:rPr lang="en-US" i="1" dirty="0"/>
              <a:t>Scientific Reports</a:t>
            </a:r>
            <a:r>
              <a:rPr lang="en-US" dirty="0"/>
              <a:t>, 13, pp. 1–16.</a:t>
            </a:r>
          </a:p>
          <a:p>
            <a:r>
              <a:rPr lang="en-US" dirty="0"/>
              <a:t>Wang, X. </a:t>
            </a:r>
            <a:r>
              <a:rPr lang="en-US" i="1" dirty="0"/>
              <a:t>et al.</a:t>
            </a:r>
            <a:r>
              <a:rPr lang="en-US" dirty="0"/>
              <a:t> (2024) ‘LATUP-Net: a lightweight 3D attention U-Net for brain tumor segmentation’, </a:t>
            </a:r>
            <a:r>
              <a:rPr lang="en-US" i="1" dirty="0"/>
              <a:t>Computers in Biology and Medicine</a:t>
            </a:r>
            <a:r>
              <a:rPr lang="en-US" dirty="0"/>
              <a:t>, 168, 107633.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lic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</TotalTime>
  <Words>1039</Words>
  <Application>Microsoft Office PowerPoint</Application>
  <PresentationFormat>On-screen Show (4:3)</PresentationFormat>
  <Paragraphs>130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Slice</vt:lpstr>
      <vt:lpstr>AI-Based Brain Tumor Classification from MRI</vt:lpstr>
      <vt:lpstr>Problem Statement</vt:lpstr>
      <vt:lpstr>Suggested Solution</vt:lpstr>
      <vt:lpstr>Project Objectives</vt:lpstr>
      <vt:lpstr>Background</vt:lpstr>
      <vt:lpstr>Related Work – Classification Models</vt:lpstr>
      <vt:lpstr>Related Work – Explainability</vt:lpstr>
      <vt:lpstr>Related Works - summary table</vt:lpstr>
      <vt:lpstr>Methodology</vt:lpstr>
      <vt:lpstr>Functional Requirements</vt:lpstr>
      <vt:lpstr>Non-Functional Requirements</vt:lpstr>
      <vt:lpstr>UML Diagram – USE CASE</vt:lpstr>
      <vt:lpstr>UML Diagram – Activity flow</vt:lpstr>
      <vt:lpstr>UML Diagram – sequence</vt:lpstr>
      <vt:lpstr>UML Diagram – class</vt:lpstr>
      <vt:lpstr>Project Plan – Gantt chart</vt:lpstr>
      <vt:lpstr>Conclusion and Future Work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Mohamed Khaled</dc:creator>
  <cp:keywords/>
  <dc:description>generated using python-pptx</dc:description>
  <cp:lastModifiedBy>Mohamed Abdallah Ahmed Abdallah</cp:lastModifiedBy>
  <cp:revision>4</cp:revision>
  <dcterms:created xsi:type="dcterms:W3CDTF">2013-01-27T09:14:16Z</dcterms:created>
  <dcterms:modified xsi:type="dcterms:W3CDTF">2025-12-16T21:57:15Z</dcterms:modified>
  <cp:category/>
</cp:coreProperties>
</file>